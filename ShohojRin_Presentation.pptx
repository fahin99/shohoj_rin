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080"/>
    <a:srgbClr val="E8F4F8"/>
    <a:srgbClr val="C08A3C"/>
    <a:srgbClr val="FFF8E1"/>
    <a:srgbClr val="CCA163"/>
    <a:srgbClr val="CB9E5D"/>
    <a:srgbClr val="FFFFFF"/>
    <a:srgbClr val="DABA8B"/>
    <a:srgbClr val="000000"/>
    <a:srgbClr val="3155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alpha val="2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28416" cy="1143000"/>
          </a:xfrm>
        </p:spPr>
        <p:txBody>
          <a:bodyPr/>
          <a:lstStyle/>
          <a:p>
            <a:pPr>
              <a:defRPr sz="3200">
                <a:solidFill>
                  <a:srgbClr val="2C5282"/>
                </a:solidFill>
              </a:defRPr>
            </a:pPr>
            <a:r>
              <a:rPr dirty="0" err="1"/>
              <a:t>ShohojRin</a:t>
            </a:r>
            <a:br>
              <a:rPr lang="en-US" dirty="0"/>
            </a:br>
            <a:r>
              <a:rPr lang="en-US" dirty="0"/>
              <a:t>ER </a:t>
            </a:r>
            <a:r>
              <a:rPr dirty="0"/>
              <a:t>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1892808"/>
            <a:ext cx="42976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>
                <a:solidFill>
                  <a:srgbClr val="4A4A5A"/>
                </a:solidFill>
              </a:defRPr>
            </a:pPr>
            <a:r>
              <a:rPr dirty="0"/>
              <a:t>Trust-Based Verification &amp; Loan Orchestration Platform  | 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4A4A5A"/>
                </a:solidFill>
              </a:defRPr>
            </a:pPr>
            <a:r>
              <a:rPr dirty="0"/>
              <a:t>21 Entities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4A4A5A"/>
                </a:solidFill>
              </a:defRPr>
            </a:pPr>
            <a:r>
              <a:rPr dirty="0"/>
              <a:t>29 Relationships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4A4A5A"/>
                </a:solidFill>
              </a:defRPr>
            </a:pPr>
            <a:r>
              <a:rPr dirty="0"/>
              <a:t>Chen's Notation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47A267-6193-12BD-3722-3420573C4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78" t="3264" r="2919" b="2489"/>
          <a:stretch/>
        </p:blipFill>
        <p:spPr>
          <a:xfrm>
            <a:off x="4846882" y="273445"/>
            <a:ext cx="7119008" cy="631110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2305C7-5A86-4882-F76A-34335487FE54}"/>
              </a:ext>
            </a:extLst>
          </p:cNvPr>
          <p:cNvCxnSpPr>
            <a:cxnSpLocks/>
          </p:cNvCxnSpPr>
          <p:nvPr/>
        </p:nvCxnSpPr>
        <p:spPr>
          <a:xfrm flipV="1">
            <a:off x="4846882" y="274638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D361E5-A458-F2CE-7857-86F6855E9B0A}"/>
              </a:ext>
            </a:extLst>
          </p:cNvPr>
          <p:cNvCxnSpPr>
            <a:cxnSpLocks/>
          </p:cNvCxnSpPr>
          <p:nvPr/>
        </p:nvCxnSpPr>
        <p:spPr>
          <a:xfrm flipH="1">
            <a:off x="4846882" y="274638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F9BA09-E949-A336-EC86-E3554300251D}"/>
              </a:ext>
            </a:extLst>
          </p:cNvPr>
          <p:cNvCxnSpPr>
            <a:cxnSpLocks/>
          </p:cNvCxnSpPr>
          <p:nvPr/>
        </p:nvCxnSpPr>
        <p:spPr>
          <a:xfrm>
            <a:off x="10447986" y="6584554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FD5E78-CC47-FB06-0D74-07DAFCB27C9C}"/>
              </a:ext>
            </a:extLst>
          </p:cNvPr>
          <p:cNvCxnSpPr>
            <a:cxnSpLocks/>
          </p:cNvCxnSpPr>
          <p:nvPr/>
        </p:nvCxnSpPr>
        <p:spPr>
          <a:xfrm>
            <a:off x="11965890" y="4938634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9728" y="274638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1 — Authentication &amp; User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851" y="84613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4A4A5A"/>
                </a:solidFill>
              </a:defRPr>
            </a:pPr>
            <a:r>
              <a:rPr dirty="0"/>
              <a:t>Core identity, credentials, and session control</a:t>
            </a:r>
          </a:p>
        </p:txBody>
      </p:sp>
      <p:pic>
        <p:nvPicPr>
          <p:cNvPr id="4" name="Picture 3" descr="slide2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144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11593" y="1630077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Manages authentication identity separately from profile data</a:t>
            </a:r>
          </a:p>
          <a:p>
            <a:pPr lvl="1">
              <a:defRPr sz="1400"/>
            </a:pPr>
            <a:r>
              <a:rPr dirty="0"/>
              <a:t>Supports multi-device sessions with server-side revocation</a:t>
            </a:r>
          </a:p>
          <a:p>
            <a:pPr lvl="1">
              <a:defRPr sz="1400"/>
            </a:pPr>
            <a:r>
              <a:rPr dirty="0"/>
              <a:t>Follows 3NF — credentials change independently from biographical data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/>
              <a:t>users, </a:t>
            </a:r>
            <a:r>
              <a:rPr dirty="0" err="1"/>
              <a:t>login_sessions</a:t>
            </a:r>
            <a:endParaRPr dirty="0"/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/>
              <a:t>users → </a:t>
            </a:r>
            <a:r>
              <a:rPr dirty="0" err="1"/>
              <a:t>login_sessions</a:t>
            </a:r>
            <a:r>
              <a:rPr dirty="0"/>
              <a:t> (1:N) — one user opens many sessions</a:t>
            </a:r>
          </a:p>
          <a:p>
            <a:pPr lvl="1">
              <a:defRPr sz="1400"/>
            </a:pPr>
            <a:r>
              <a:rPr dirty="0"/>
              <a:t>Sessions can be individually revoked without affecting the user record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Design Rationale</a:t>
            </a:r>
          </a:p>
          <a:p>
            <a:pPr lvl="1">
              <a:defRPr sz="1400"/>
            </a:pPr>
            <a:r>
              <a:rPr dirty="0"/>
              <a:t>JWT alone cannot support forced logout; sessions enable revocation</a:t>
            </a:r>
          </a:p>
          <a:p>
            <a:pPr lvl="1">
              <a:defRPr sz="1400"/>
            </a:pPr>
            <a:r>
              <a:rPr dirty="0"/>
              <a:t>User table is kept lean — only credentials and role</a:t>
            </a:r>
          </a:p>
          <a:p>
            <a:pPr>
              <a:defRPr sz="800"/>
            </a:pPr>
            <a:endParaRPr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00372D-DEAD-76D6-A296-7BC5AF0F6FD2}"/>
              </a:ext>
            </a:extLst>
          </p:cNvPr>
          <p:cNvCxnSpPr>
            <a:cxnSpLocks/>
          </p:cNvCxnSpPr>
          <p:nvPr/>
        </p:nvCxnSpPr>
        <p:spPr>
          <a:xfrm>
            <a:off x="10296144" y="5916168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079E95-3959-86D3-8D77-4250414A5CE2}"/>
              </a:ext>
            </a:extLst>
          </p:cNvPr>
          <p:cNvCxnSpPr>
            <a:cxnSpLocks/>
          </p:cNvCxnSpPr>
          <p:nvPr/>
        </p:nvCxnSpPr>
        <p:spPr>
          <a:xfrm>
            <a:off x="11814048" y="4270248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7B3256-EE49-CEEB-4E41-ABB33312A46D}"/>
              </a:ext>
            </a:extLst>
          </p:cNvPr>
          <p:cNvCxnSpPr>
            <a:cxnSpLocks/>
          </p:cNvCxnSpPr>
          <p:nvPr/>
        </p:nvCxnSpPr>
        <p:spPr>
          <a:xfrm flipV="1">
            <a:off x="6297649" y="1645920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738AF5-E233-F091-BE61-378E7DDF4201}"/>
              </a:ext>
            </a:extLst>
          </p:cNvPr>
          <p:cNvCxnSpPr>
            <a:cxnSpLocks/>
          </p:cNvCxnSpPr>
          <p:nvPr/>
        </p:nvCxnSpPr>
        <p:spPr>
          <a:xfrm flipH="1">
            <a:off x="6297649" y="1645920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59536" y="224505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2 — User Profile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226" y="82343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4A4A5A"/>
                </a:solidFill>
              </a:defRPr>
            </a:pPr>
            <a:r>
              <a:rPr dirty="0"/>
              <a:t>Profile data, institution normalization, document verification workflow</a:t>
            </a:r>
          </a:p>
        </p:txBody>
      </p:sp>
      <p:pic>
        <p:nvPicPr>
          <p:cNvPr id="4" name="Picture 3" descr="slide3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4144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746504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Separates profile data from authentication for normalization</a:t>
            </a:r>
          </a:p>
          <a:p>
            <a:pPr lvl="1">
              <a:defRPr sz="1400"/>
            </a:pPr>
            <a:r>
              <a:rPr dirty="0"/>
              <a:t>Institutions are normalized — avoids repeating "BUET" across thousands of profiles</a:t>
            </a:r>
          </a:p>
          <a:p>
            <a:pPr lvl="1">
              <a:defRPr sz="1400"/>
            </a:pPr>
            <a:r>
              <a:rPr dirty="0"/>
              <a:t>Verification is a workflow, not a </a:t>
            </a:r>
            <a:r>
              <a:rPr dirty="0" err="1"/>
              <a:t>boolean</a:t>
            </a:r>
            <a:r>
              <a:rPr dirty="0"/>
              <a:t> flag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 err="1"/>
              <a:t>user_profiles</a:t>
            </a:r>
            <a:r>
              <a:rPr dirty="0"/>
              <a:t>, institutions, </a:t>
            </a:r>
            <a:r>
              <a:rPr dirty="0" err="1"/>
              <a:t>verification_requests</a:t>
            </a:r>
            <a:r>
              <a:rPr dirty="0"/>
              <a:t>, </a:t>
            </a:r>
            <a:r>
              <a:rPr dirty="0" err="1"/>
              <a:t>verification_documents</a:t>
            </a:r>
            <a:endParaRPr dirty="0"/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/>
              <a:t>users → </a:t>
            </a:r>
            <a:r>
              <a:rPr dirty="0" err="1"/>
              <a:t>user_profiles</a:t>
            </a:r>
            <a:r>
              <a:rPr dirty="0"/>
              <a:t> (1:1) — separates identity from biography</a:t>
            </a:r>
          </a:p>
          <a:p>
            <a:pPr lvl="1">
              <a:defRPr sz="1400"/>
            </a:pPr>
            <a:r>
              <a:rPr dirty="0" err="1"/>
              <a:t>user_profiles</a:t>
            </a:r>
            <a:r>
              <a:rPr dirty="0"/>
              <a:t> → institutions (N:1) — eliminates redundancy</a:t>
            </a:r>
          </a:p>
          <a:p>
            <a:pPr lvl="1">
              <a:defRPr sz="1400"/>
            </a:pPr>
            <a:r>
              <a:rPr dirty="0"/>
              <a:t>users → </a:t>
            </a:r>
            <a:r>
              <a:rPr dirty="0" err="1"/>
              <a:t>verification_requests</a:t>
            </a:r>
            <a:r>
              <a:rPr dirty="0"/>
              <a:t> (1:N) — supports re-verification</a:t>
            </a:r>
          </a:p>
          <a:p>
            <a:pPr lvl="1">
              <a:defRPr sz="1400"/>
            </a:pPr>
            <a:r>
              <a:rPr dirty="0" err="1"/>
              <a:t>verification_requests</a:t>
            </a:r>
            <a:r>
              <a:rPr dirty="0"/>
              <a:t> → documents (1:N) — multiple docs per request</a:t>
            </a:r>
          </a:p>
          <a:p>
            <a:pPr>
              <a:defRPr sz="800"/>
            </a:pP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779CAB-C802-B7C9-7F11-AD061A7A6531}"/>
              </a:ext>
            </a:extLst>
          </p:cNvPr>
          <p:cNvCxnSpPr>
            <a:cxnSpLocks/>
          </p:cNvCxnSpPr>
          <p:nvPr/>
        </p:nvCxnSpPr>
        <p:spPr>
          <a:xfrm>
            <a:off x="10296144" y="5916168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31B45-8583-37C4-75A5-9FE36152F90F}"/>
              </a:ext>
            </a:extLst>
          </p:cNvPr>
          <p:cNvCxnSpPr>
            <a:cxnSpLocks/>
          </p:cNvCxnSpPr>
          <p:nvPr/>
        </p:nvCxnSpPr>
        <p:spPr>
          <a:xfrm>
            <a:off x="11814048" y="4270248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51828D-8316-7DFE-0619-44539442C573}"/>
              </a:ext>
            </a:extLst>
          </p:cNvPr>
          <p:cNvCxnSpPr>
            <a:cxnSpLocks/>
          </p:cNvCxnSpPr>
          <p:nvPr/>
        </p:nvCxnSpPr>
        <p:spPr>
          <a:xfrm flipV="1">
            <a:off x="6288024" y="1645920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227135-D53D-B049-0C02-9244F61B7BD7}"/>
              </a:ext>
            </a:extLst>
          </p:cNvPr>
          <p:cNvCxnSpPr>
            <a:cxnSpLocks/>
          </p:cNvCxnSpPr>
          <p:nvPr/>
        </p:nvCxnSpPr>
        <p:spPr>
          <a:xfrm flipH="1">
            <a:off x="6288024" y="1645920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38528" y="191770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3 — Trust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924" y="76327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4A4A5A"/>
                </a:solidFill>
              </a:defRPr>
            </a:pPr>
            <a:r>
              <a:rPr dirty="0"/>
              <a:t>Explainable, historical trust scoring — the platform's core innovation</a:t>
            </a:r>
          </a:p>
        </p:txBody>
      </p:sp>
      <p:pic>
        <p:nvPicPr>
          <p:cNvPr id="4" name="Picture 3" descr="slide4_diag.png"/>
          <p:cNvPicPr>
            <a:picLocks noChangeAspect="1"/>
          </p:cNvPicPr>
          <p:nvPr/>
        </p:nvPicPr>
        <p:blipFill>
          <a:blip r:embed="rId2"/>
          <a:srcRect t="6889"/>
          <a:stretch/>
        </p:blipFill>
        <p:spPr>
          <a:xfrm>
            <a:off x="394435" y="1574800"/>
            <a:ext cx="5414426" cy="42570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6398021" y="1279091"/>
            <a:ext cx="5486400" cy="4572000"/>
          </a:xfrm>
          <a:prstGeom prst="rect">
            <a:avLst/>
          </a:prstGeom>
          <a:noFill/>
          <a:effectLst>
            <a:outerShdw blurRad="50800"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Generates an explainable trust score for each borrower</a:t>
            </a:r>
          </a:p>
          <a:p>
            <a:pPr lvl="1">
              <a:defRPr sz="1400"/>
            </a:pPr>
            <a:r>
              <a:rPr dirty="0"/>
              <a:t>Each recalculation creates a new immutable snapshot — history is never overwritten</a:t>
            </a:r>
          </a:p>
          <a:p>
            <a:pPr lvl="1">
              <a:defRPr sz="1400"/>
            </a:pPr>
            <a:r>
              <a:rPr dirty="0"/>
              <a:t>Factors detail why a score was assigned (e.g., +20 for identity verified)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 err="1"/>
              <a:t>trust_scores</a:t>
            </a:r>
            <a:r>
              <a:rPr dirty="0"/>
              <a:t>, </a:t>
            </a:r>
            <a:r>
              <a:rPr dirty="0" err="1"/>
              <a:t>trust_score_factors</a:t>
            </a:r>
            <a:endParaRPr dirty="0"/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/>
              <a:t>users → </a:t>
            </a:r>
            <a:r>
              <a:rPr dirty="0" err="1"/>
              <a:t>trust_scores</a:t>
            </a:r>
            <a:r>
              <a:rPr dirty="0"/>
              <a:t> (1:N) — accumulates historical snapshots</a:t>
            </a:r>
          </a:p>
          <a:p>
            <a:pPr lvl="1">
              <a:defRPr sz="1400"/>
            </a:pPr>
            <a:r>
              <a:rPr dirty="0" err="1"/>
              <a:t>trust_scores</a:t>
            </a:r>
            <a:r>
              <a:rPr dirty="0"/>
              <a:t> → factors (1:N, total–total) — every score must have factors; every factor belongs to a score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Design Rationale</a:t>
            </a:r>
          </a:p>
          <a:p>
            <a:pPr lvl="1">
              <a:defRPr sz="1400"/>
            </a:pPr>
            <a:r>
              <a:rPr dirty="0"/>
              <a:t>Evaluators must understand why a borrower scored 72, not just see "72"</a:t>
            </a:r>
          </a:p>
          <a:p>
            <a:pPr lvl="1">
              <a:defRPr sz="1400"/>
            </a:pPr>
            <a:r>
              <a:rPr dirty="0" err="1"/>
              <a:t>is_current</a:t>
            </a:r>
            <a:r>
              <a:rPr dirty="0"/>
              <a:t> flag enables fast lookup without subqueries</a:t>
            </a:r>
          </a:p>
          <a:p>
            <a:pPr lvl="1">
              <a:defRPr sz="1400"/>
            </a:pPr>
            <a:r>
              <a:rPr dirty="0"/>
              <a:t>Supports trend analysis, auditing, and fairness verification</a:t>
            </a:r>
          </a:p>
          <a:p>
            <a:pPr>
              <a:defRPr sz="800"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69F74C-6598-4781-FFC7-0880FA0CFF75}"/>
              </a:ext>
            </a:extLst>
          </p:cNvPr>
          <p:cNvSpPr/>
          <p:nvPr/>
        </p:nvSpPr>
        <p:spPr>
          <a:xfrm>
            <a:off x="2049526" y="5157470"/>
            <a:ext cx="1760474" cy="365760"/>
          </a:xfrm>
          <a:prstGeom prst="rect">
            <a:avLst/>
          </a:prstGeom>
          <a:solidFill>
            <a:srgbClr val="E8F4F8"/>
          </a:solidFill>
          <a:ln w="19050">
            <a:solidFill>
              <a:srgbClr val="3C5F8B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271521"/>
                </a:solidFill>
              </a:rPr>
              <a:t>trust_based_factors</a:t>
            </a:r>
            <a:endParaRPr lang="en-US" sz="1200" b="1" dirty="0">
              <a:solidFill>
                <a:srgbClr val="27152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86AFC5-6A9D-771D-D696-CC0D6F915005}"/>
              </a:ext>
            </a:extLst>
          </p:cNvPr>
          <p:cNvSpPr/>
          <p:nvPr/>
        </p:nvSpPr>
        <p:spPr>
          <a:xfrm>
            <a:off x="4284130" y="5055870"/>
            <a:ext cx="1043774" cy="365760"/>
          </a:xfrm>
          <a:prstGeom prst="ellipse">
            <a:avLst/>
          </a:prstGeom>
          <a:solidFill>
            <a:srgbClr val="FFF8E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5705F-E24B-6816-2680-CEE26EA8C08B}"/>
              </a:ext>
            </a:extLst>
          </p:cNvPr>
          <p:cNvSpPr txBox="1"/>
          <p:nvPr/>
        </p:nvSpPr>
        <p:spPr>
          <a:xfrm>
            <a:off x="4391079" y="5131028"/>
            <a:ext cx="721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271521"/>
                </a:solidFill>
              </a:rPr>
              <a:t>factor_name</a:t>
            </a:r>
            <a:endParaRPr lang="en-US" sz="800" dirty="0">
              <a:solidFill>
                <a:srgbClr val="27152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26C2F9-B1F0-4924-61FC-3749687AB42D}"/>
              </a:ext>
            </a:extLst>
          </p:cNvPr>
          <p:cNvCxnSpPr>
            <a:cxnSpLocks/>
          </p:cNvCxnSpPr>
          <p:nvPr/>
        </p:nvCxnSpPr>
        <p:spPr>
          <a:xfrm>
            <a:off x="10296144" y="5916168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443919-AAA5-BF1B-5808-FE07139B711F}"/>
              </a:ext>
            </a:extLst>
          </p:cNvPr>
          <p:cNvCxnSpPr>
            <a:cxnSpLocks/>
          </p:cNvCxnSpPr>
          <p:nvPr/>
        </p:nvCxnSpPr>
        <p:spPr>
          <a:xfrm>
            <a:off x="11814048" y="4270248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05FA6F-C970-81B2-AF2C-9748B4314C4B}"/>
              </a:ext>
            </a:extLst>
          </p:cNvPr>
          <p:cNvCxnSpPr>
            <a:cxnSpLocks/>
          </p:cNvCxnSpPr>
          <p:nvPr/>
        </p:nvCxnSpPr>
        <p:spPr>
          <a:xfrm flipV="1">
            <a:off x="6096000" y="1344395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10B6CD-77E5-2EC3-01DD-321771B828FB}"/>
              </a:ext>
            </a:extLst>
          </p:cNvPr>
          <p:cNvCxnSpPr>
            <a:cxnSpLocks/>
          </p:cNvCxnSpPr>
          <p:nvPr/>
        </p:nvCxnSpPr>
        <p:spPr>
          <a:xfrm flipH="1">
            <a:off x="6096000" y="1344395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83945" y="260518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4 — Loan Application &amp; Loan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929" y="87982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4A4A5A"/>
                </a:solidFill>
              </a:defRPr>
            </a:pPr>
            <a:r>
              <a:rPr dirty="0"/>
              <a:t>Application → Offer → Loan → Disbursement — four distinct lifecycle stages</a:t>
            </a:r>
          </a:p>
        </p:txBody>
      </p:sp>
      <p:pic>
        <p:nvPicPr>
          <p:cNvPr id="4" name="Picture 3" descr="slide5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2412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19672" y="1428948"/>
            <a:ext cx="54864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Application, Offer, Loan, and Disbursement are four distinct entities representing different lifecycle stages</a:t>
            </a:r>
          </a:p>
          <a:p>
            <a:pPr lvl="1">
              <a:defRPr sz="1400"/>
            </a:pPr>
            <a:r>
              <a:rPr dirty="0"/>
              <a:t>A request may never become a loan — rejected applications</a:t>
            </a:r>
            <a:endParaRPr lang="en-US" dirty="0"/>
          </a:p>
          <a:p>
            <a:pPr lvl="1">
              <a:defRPr sz="1400"/>
            </a:pPr>
            <a:r>
              <a:rPr dirty="0"/>
              <a:t>must persist</a:t>
            </a:r>
          </a:p>
          <a:p>
            <a:pPr lvl="1">
              <a:defRPr sz="1400"/>
            </a:pPr>
            <a:r>
              <a:rPr dirty="0"/>
              <a:t>Partner may offer different terms than requested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 err="1"/>
              <a:t>loan_applications</a:t>
            </a:r>
            <a:r>
              <a:rPr dirty="0"/>
              <a:t>, </a:t>
            </a:r>
            <a:r>
              <a:rPr dirty="0" err="1"/>
              <a:t>loan_offers</a:t>
            </a:r>
            <a:r>
              <a:rPr dirty="0"/>
              <a:t>, loans, </a:t>
            </a:r>
            <a:r>
              <a:rPr dirty="0" err="1"/>
              <a:t>loan_disbursements</a:t>
            </a:r>
            <a:endParaRPr dirty="0"/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/>
              <a:t>application → offer (1:1) — partner counter-offer preserves original request</a:t>
            </a:r>
          </a:p>
          <a:p>
            <a:pPr lvl="1">
              <a:defRPr sz="1400"/>
            </a:pPr>
            <a:r>
              <a:rPr dirty="0"/>
              <a:t>application → loan (1:1) — loan exists only after approval</a:t>
            </a:r>
          </a:p>
          <a:p>
            <a:pPr lvl="1">
              <a:defRPr sz="1400"/>
            </a:pPr>
            <a:r>
              <a:rPr dirty="0"/>
              <a:t>loan → disbursements (1:N) — approval ≠ money transferred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Design Rationale</a:t>
            </a:r>
          </a:p>
          <a:p>
            <a:pPr lvl="1">
              <a:defRPr sz="1400"/>
            </a:pPr>
            <a:r>
              <a:rPr dirty="0"/>
              <a:t>Mixing lifecycle stages would create NULL-heavy records and complex status logic</a:t>
            </a:r>
          </a:p>
          <a:p>
            <a:pPr lvl="1">
              <a:defRPr sz="1400"/>
            </a:pPr>
            <a:r>
              <a:rPr dirty="0" err="1"/>
              <a:t>trust_score_id</a:t>
            </a:r>
            <a:r>
              <a:rPr dirty="0"/>
              <a:t> on application captures the score snapshot at submission time</a:t>
            </a:r>
          </a:p>
          <a:p>
            <a:pPr>
              <a:defRPr sz="800"/>
            </a:pPr>
            <a:endParaRPr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8F147A-7749-8B61-B053-1DD886F34C68}"/>
              </a:ext>
            </a:extLst>
          </p:cNvPr>
          <p:cNvCxnSpPr>
            <a:cxnSpLocks/>
          </p:cNvCxnSpPr>
          <p:nvPr/>
        </p:nvCxnSpPr>
        <p:spPr>
          <a:xfrm flipH="1">
            <a:off x="2606675" y="4610100"/>
            <a:ext cx="111125" cy="123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0B585C8-52F9-E274-0A53-17376B509B36}"/>
              </a:ext>
            </a:extLst>
          </p:cNvPr>
          <p:cNvSpPr/>
          <p:nvPr/>
        </p:nvSpPr>
        <p:spPr>
          <a:xfrm>
            <a:off x="641350" y="5527675"/>
            <a:ext cx="742950" cy="247650"/>
          </a:xfrm>
          <a:prstGeom prst="ellipse">
            <a:avLst/>
          </a:prstGeom>
          <a:solidFill>
            <a:srgbClr val="FFF8E1"/>
          </a:solidFill>
          <a:ln w="12700">
            <a:solidFill>
              <a:srgbClr val="C18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1BEA3-B2C4-8210-554B-213E6B9EFFF2}"/>
              </a:ext>
            </a:extLst>
          </p:cNvPr>
          <p:cNvSpPr txBox="1"/>
          <p:nvPr/>
        </p:nvSpPr>
        <p:spPr>
          <a:xfrm>
            <a:off x="794656" y="5527675"/>
            <a:ext cx="4363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status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C3A219-8C82-58B1-0125-74615533E235}"/>
              </a:ext>
            </a:extLst>
          </p:cNvPr>
          <p:cNvCxnSpPr>
            <a:cxnSpLocks/>
          </p:cNvCxnSpPr>
          <p:nvPr/>
        </p:nvCxnSpPr>
        <p:spPr>
          <a:xfrm>
            <a:off x="10341864" y="6153912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A2BE21-84EC-2CA0-933E-1C7E4DD2FC23}"/>
              </a:ext>
            </a:extLst>
          </p:cNvPr>
          <p:cNvCxnSpPr>
            <a:cxnSpLocks/>
          </p:cNvCxnSpPr>
          <p:nvPr/>
        </p:nvCxnSpPr>
        <p:spPr>
          <a:xfrm>
            <a:off x="11859768" y="4507992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EEB50E-1B7B-0CAE-283C-90099AA4403E}"/>
              </a:ext>
            </a:extLst>
          </p:cNvPr>
          <p:cNvCxnSpPr>
            <a:cxnSpLocks/>
          </p:cNvCxnSpPr>
          <p:nvPr/>
        </p:nvCxnSpPr>
        <p:spPr>
          <a:xfrm flipV="1">
            <a:off x="6288024" y="1549667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5DF0D5-C0E2-9567-A64A-149A39D9069B}"/>
              </a:ext>
            </a:extLst>
          </p:cNvPr>
          <p:cNvCxnSpPr>
            <a:cxnSpLocks/>
          </p:cNvCxnSpPr>
          <p:nvPr/>
        </p:nvCxnSpPr>
        <p:spPr>
          <a:xfrm flipH="1">
            <a:off x="6288024" y="1549667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546" y="47192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5 — Repayment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852" y="60910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4A4A5A"/>
                </a:solidFill>
              </a:defRPr>
            </a:pPr>
            <a:r>
              <a:rPr dirty="0"/>
              <a:t>Expected installments vs. actual payments — never overwrite financial records</a:t>
            </a:r>
          </a:p>
        </p:txBody>
      </p:sp>
      <p:pic>
        <p:nvPicPr>
          <p:cNvPr id="4" name="Picture 3" descr="slide6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26" y="1545336"/>
            <a:ext cx="54144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2141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Expected installments (the plan) are separate from actual payments</a:t>
            </a:r>
          </a:p>
          <a:p>
            <a:pPr lvl="1">
              <a:defRPr sz="1400"/>
            </a:pPr>
            <a:r>
              <a:rPr dirty="0"/>
              <a:t>Supports partial payments, failed attempts, and late payments</a:t>
            </a:r>
          </a:p>
          <a:p>
            <a:pPr lvl="1">
              <a:defRPr sz="1400"/>
            </a:pPr>
            <a:r>
              <a:rPr dirty="0"/>
              <a:t>Financial records are append-only — never overwritten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 err="1"/>
              <a:t>repayment_schedules</a:t>
            </a:r>
            <a:r>
              <a:rPr dirty="0"/>
              <a:t>, repayments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/>
              <a:t>loans → </a:t>
            </a:r>
            <a:r>
              <a:rPr dirty="0" err="1"/>
              <a:t>repayment_schedules</a:t>
            </a:r>
            <a:r>
              <a:rPr dirty="0"/>
              <a:t> (1:N, total–total) — every loan generates a schedule</a:t>
            </a:r>
          </a:p>
          <a:p>
            <a:pPr lvl="1">
              <a:defRPr sz="1400"/>
            </a:pPr>
            <a:r>
              <a:rPr dirty="0" err="1"/>
              <a:t>repayment_schedules</a:t>
            </a:r>
            <a:r>
              <a:rPr dirty="0"/>
              <a:t> → repayments (1:N) — multiple payments per installment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Design Rationale</a:t>
            </a:r>
          </a:p>
          <a:p>
            <a:pPr lvl="1">
              <a:defRPr sz="1400"/>
            </a:pPr>
            <a:r>
              <a:rPr dirty="0"/>
              <a:t>Enables overdue detection by comparing </a:t>
            </a:r>
            <a:r>
              <a:rPr dirty="0" err="1"/>
              <a:t>due_date</a:t>
            </a:r>
            <a:r>
              <a:rPr dirty="0"/>
              <a:t> with actual payments</a:t>
            </a:r>
          </a:p>
          <a:p>
            <a:pPr lvl="1">
              <a:defRPr sz="1400"/>
            </a:pPr>
            <a:r>
              <a:rPr dirty="0"/>
              <a:t>Supports trust score recalculation triggers on repayment events</a:t>
            </a:r>
          </a:p>
          <a:p>
            <a:pPr lvl="1">
              <a:defRPr sz="1400"/>
            </a:pPr>
            <a:r>
              <a:rPr dirty="0"/>
              <a:t>Outstanding balance is calculated, not stored (avoids derived-data issues)</a:t>
            </a:r>
          </a:p>
          <a:p>
            <a:pPr>
              <a:defRPr sz="800"/>
            </a:pP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292891-770B-01F9-5FCA-68F39086204D}"/>
              </a:ext>
            </a:extLst>
          </p:cNvPr>
          <p:cNvCxnSpPr>
            <a:cxnSpLocks/>
          </p:cNvCxnSpPr>
          <p:nvPr/>
        </p:nvCxnSpPr>
        <p:spPr>
          <a:xfrm>
            <a:off x="10411647" y="5916168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7D18CE-57AE-0E8E-9B3E-FED69AD5A341}"/>
              </a:ext>
            </a:extLst>
          </p:cNvPr>
          <p:cNvCxnSpPr>
            <a:cxnSpLocks/>
          </p:cNvCxnSpPr>
          <p:nvPr/>
        </p:nvCxnSpPr>
        <p:spPr>
          <a:xfrm>
            <a:off x="11929551" y="4270248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1D19C0-B64C-D9C5-DB4A-81EA2EF404AD}"/>
              </a:ext>
            </a:extLst>
          </p:cNvPr>
          <p:cNvCxnSpPr>
            <a:cxnSpLocks/>
          </p:cNvCxnSpPr>
          <p:nvPr/>
        </p:nvCxnSpPr>
        <p:spPr>
          <a:xfrm flipV="1">
            <a:off x="6211022" y="1314080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6F1797-8426-2CB7-E369-55AE968B1639}"/>
              </a:ext>
            </a:extLst>
          </p:cNvPr>
          <p:cNvCxnSpPr>
            <a:cxnSpLocks/>
          </p:cNvCxnSpPr>
          <p:nvPr/>
        </p:nvCxnSpPr>
        <p:spPr>
          <a:xfrm flipH="1">
            <a:off x="6211022" y="1314080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44507" y="65988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6 — Partner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226" y="637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4A4A5A"/>
                </a:solidFill>
              </a:defRPr>
            </a:pPr>
            <a:r>
              <a:rPr dirty="0" err="1"/>
              <a:t>ShohojRin</a:t>
            </a:r>
            <a:r>
              <a:rPr dirty="0"/>
              <a:t> is not a lender — partners are. Rules, decisions, and evaluations.</a:t>
            </a:r>
          </a:p>
        </p:txBody>
      </p:sp>
      <p:pic>
        <p:nvPicPr>
          <p:cNvPr id="4" name="Picture 3" descr="slide7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3411"/>
            <a:ext cx="54144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6725" y="1196771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Partners (banks, NGOs, MFIs) define their own lending criteria as data, not code</a:t>
            </a:r>
          </a:p>
          <a:p>
            <a:pPr lvl="1">
              <a:defRPr sz="1400"/>
            </a:pPr>
            <a:r>
              <a:rPr dirty="0"/>
              <a:t>Decisions are stored separately from applications — an application may receive multiple evaluations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 err="1"/>
              <a:t>funding_partners</a:t>
            </a:r>
            <a:r>
              <a:rPr dirty="0"/>
              <a:t>, </a:t>
            </a:r>
            <a:r>
              <a:rPr dirty="0" err="1"/>
              <a:t>partner_rules</a:t>
            </a:r>
            <a:r>
              <a:rPr dirty="0"/>
              <a:t>, </a:t>
            </a:r>
            <a:r>
              <a:rPr dirty="0" err="1"/>
              <a:t>partner_decisions</a:t>
            </a:r>
            <a:endParaRPr dirty="0"/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 err="1"/>
              <a:t>funding_partners</a:t>
            </a:r>
            <a:r>
              <a:rPr dirty="0"/>
              <a:t> → </a:t>
            </a:r>
            <a:r>
              <a:rPr dirty="0" err="1"/>
              <a:t>partner_rules</a:t>
            </a:r>
            <a:r>
              <a:rPr dirty="0"/>
              <a:t> (1:N) — each partner has configurable criteria</a:t>
            </a:r>
          </a:p>
          <a:p>
            <a:pPr lvl="1">
              <a:defRPr sz="1400"/>
            </a:pPr>
            <a:r>
              <a:rPr dirty="0" err="1"/>
              <a:t>funding_partners</a:t>
            </a:r>
            <a:r>
              <a:rPr dirty="0"/>
              <a:t> → </a:t>
            </a:r>
            <a:r>
              <a:rPr dirty="0" err="1"/>
              <a:t>partner_decisions</a:t>
            </a:r>
            <a:r>
              <a:rPr dirty="0"/>
              <a:t> (1:N) — decision history per partner</a:t>
            </a:r>
          </a:p>
          <a:p>
            <a:pPr lvl="1">
              <a:defRPr sz="1400"/>
            </a:pPr>
            <a:r>
              <a:rPr dirty="0" err="1"/>
              <a:t>loan_applications</a:t>
            </a:r>
            <a:r>
              <a:rPr dirty="0"/>
              <a:t> → </a:t>
            </a:r>
            <a:r>
              <a:rPr dirty="0" err="1"/>
              <a:t>partner_decisions</a:t>
            </a:r>
            <a:r>
              <a:rPr dirty="0"/>
              <a:t> (1:N) — multiple partners may evaluate one application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Design Rationale</a:t>
            </a:r>
          </a:p>
          <a:p>
            <a:pPr lvl="1">
              <a:defRPr sz="1400"/>
            </a:pPr>
            <a:r>
              <a:rPr dirty="0"/>
              <a:t>Adding a new partner requires no schema changes — only data insertion</a:t>
            </a:r>
          </a:p>
          <a:p>
            <a:pPr lvl="1">
              <a:defRPr sz="1400"/>
            </a:pPr>
            <a:r>
              <a:rPr dirty="0"/>
              <a:t>Rules support effective-dating for versioning</a:t>
            </a:r>
          </a:p>
          <a:p>
            <a:pPr lvl="1">
              <a:defRPr sz="1400"/>
            </a:pPr>
            <a:r>
              <a:rPr dirty="0"/>
              <a:t>Preserves full decision history for audit and partner analytics</a:t>
            </a:r>
          </a:p>
          <a:p>
            <a:pPr>
              <a:defRPr sz="800"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4F33C-4DDE-C6C9-5B7B-4D29AC6E913E}"/>
              </a:ext>
            </a:extLst>
          </p:cNvPr>
          <p:cNvSpPr/>
          <p:nvPr/>
        </p:nvSpPr>
        <p:spPr>
          <a:xfrm>
            <a:off x="457200" y="4130676"/>
            <a:ext cx="1409700" cy="730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FE28B4-A2D0-DFFE-30CE-52EA9A36B9C1}"/>
              </a:ext>
            </a:extLst>
          </p:cNvPr>
          <p:cNvSpPr/>
          <p:nvPr/>
        </p:nvSpPr>
        <p:spPr>
          <a:xfrm>
            <a:off x="583357" y="4173169"/>
            <a:ext cx="1032087" cy="322632"/>
          </a:xfrm>
          <a:prstGeom prst="ellipse">
            <a:avLst/>
          </a:prstGeom>
          <a:solidFill>
            <a:srgbClr val="FFF8E1"/>
          </a:solidFill>
          <a:ln w="19050">
            <a:solidFill>
              <a:srgbClr val="CC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2ECA3-7F49-A828-5AFB-8F88A41C36B5}"/>
              </a:ext>
            </a:extLst>
          </p:cNvPr>
          <p:cNvSpPr txBox="1"/>
          <p:nvPr/>
        </p:nvSpPr>
        <p:spPr>
          <a:xfrm>
            <a:off x="664825" y="4226763"/>
            <a:ext cx="8691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min_trust_score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6B55EF-161A-D701-769C-68A5F745F65F}"/>
              </a:ext>
            </a:extLst>
          </p:cNvPr>
          <p:cNvCxnSpPr>
            <a:cxnSpLocks/>
            <a:endCxn id="7" idx="7"/>
          </p:cNvCxnSpPr>
          <p:nvPr/>
        </p:nvCxnSpPr>
        <p:spPr>
          <a:xfrm flipH="1">
            <a:off x="1464298" y="4107052"/>
            <a:ext cx="11019" cy="113365"/>
          </a:xfrm>
          <a:prstGeom prst="line">
            <a:avLst/>
          </a:prstGeom>
          <a:ln w="12700">
            <a:solidFill>
              <a:srgbClr val="7B7B7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2F07A6-F37D-8B54-6F92-318099FB0783}"/>
              </a:ext>
            </a:extLst>
          </p:cNvPr>
          <p:cNvSpPr/>
          <p:nvPr/>
        </p:nvSpPr>
        <p:spPr>
          <a:xfrm>
            <a:off x="1251801" y="4526790"/>
            <a:ext cx="1032087" cy="322632"/>
          </a:xfrm>
          <a:prstGeom prst="ellipse">
            <a:avLst/>
          </a:prstGeom>
          <a:solidFill>
            <a:srgbClr val="FFF8E1"/>
          </a:solidFill>
          <a:ln w="19050">
            <a:solidFill>
              <a:srgbClr val="CC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8C3E61-C528-6921-E360-E6B2D4F7A71D}"/>
              </a:ext>
            </a:extLst>
          </p:cNvPr>
          <p:cNvSpPr txBox="1"/>
          <p:nvPr/>
        </p:nvSpPr>
        <p:spPr>
          <a:xfrm>
            <a:off x="1333269" y="4580384"/>
            <a:ext cx="8691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max_loan_amnt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050A38-3B62-E131-7FCE-07FF0ABF0B3F}"/>
              </a:ext>
            </a:extLst>
          </p:cNvPr>
          <p:cNvCxnSpPr>
            <a:cxnSpLocks/>
          </p:cNvCxnSpPr>
          <p:nvPr/>
        </p:nvCxnSpPr>
        <p:spPr>
          <a:xfrm>
            <a:off x="1866900" y="4107052"/>
            <a:ext cx="0" cy="419738"/>
          </a:xfrm>
          <a:prstGeom prst="line">
            <a:avLst/>
          </a:prstGeom>
          <a:ln w="12700">
            <a:solidFill>
              <a:srgbClr val="7B7B7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0628921-5A11-38AD-5714-0C32266B0D1C}"/>
              </a:ext>
            </a:extLst>
          </p:cNvPr>
          <p:cNvSpPr/>
          <p:nvPr/>
        </p:nvSpPr>
        <p:spPr>
          <a:xfrm>
            <a:off x="3596217" y="5289527"/>
            <a:ext cx="1540933" cy="287867"/>
          </a:xfrm>
          <a:prstGeom prst="rect">
            <a:avLst/>
          </a:prstGeom>
          <a:solidFill>
            <a:srgbClr val="E8F4F8"/>
          </a:solidFill>
          <a:ln w="19050">
            <a:solidFill>
              <a:srgbClr val="3155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6A9B67-DDEC-E903-A849-392C5D24AE93}"/>
              </a:ext>
            </a:extLst>
          </p:cNvPr>
          <p:cNvSpPr txBox="1"/>
          <p:nvPr/>
        </p:nvSpPr>
        <p:spPr>
          <a:xfrm>
            <a:off x="3814680" y="5310349"/>
            <a:ext cx="11272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loan_applications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6F297B-3C46-1663-813F-F19ED3595017}"/>
              </a:ext>
            </a:extLst>
          </p:cNvPr>
          <p:cNvCxnSpPr>
            <a:cxnSpLocks/>
          </p:cNvCxnSpPr>
          <p:nvPr/>
        </p:nvCxnSpPr>
        <p:spPr>
          <a:xfrm>
            <a:off x="10455221" y="6298938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1A93F4-0BFF-F262-B7FE-AA8906DE8BCA}"/>
              </a:ext>
            </a:extLst>
          </p:cNvPr>
          <p:cNvCxnSpPr>
            <a:cxnSpLocks/>
          </p:cNvCxnSpPr>
          <p:nvPr/>
        </p:nvCxnSpPr>
        <p:spPr>
          <a:xfrm>
            <a:off x="11973125" y="4653018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097F2E0-D4A3-1205-31A2-009988E64D96}"/>
              </a:ext>
            </a:extLst>
          </p:cNvPr>
          <p:cNvCxnSpPr>
            <a:cxnSpLocks/>
          </p:cNvCxnSpPr>
          <p:nvPr/>
        </p:nvCxnSpPr>
        <p:spPr>
          <a:xfrm flipV="1">
            <a:off x="6288024" y="1328286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BA3FCE-61C3-5B04-8B1D-74F98AA9642E}"/>
              </a:ext>
            </a:extLst>
          </p:cNvPr>
          <p:cNvCxnSpPr>
            <a:cxnSpLocks/>
          </p:cNvCxnSpPr>
          <p:nvPr/>
        </p:nvCxnSpPr>
        <p:spPr>
          <a:xfrm flipH="1">
            <a:off x="6288024" y="1328286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0040" y="68580"/>
            <a:ext cx="9692640" cy="1143000"/>
          </a:xfrm>
        </p:spPr>
        <p:txBody>
          <a:bodyPr/>
          <a:lstStyle/>
          <a:p>
            <a:pPr>
              <a:defRPr sz="2800">
                <a:solidFill>
                  <a:srgbClr val="2C5282"/>
                </a:solidFill>
              </a:defRPr>
            </a:pPr>
            <a:r>
              <a:rPr dirty="0"/>
              <a:t>Module 7 — Fraud Detection, Audit Logs &amp;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226" y="6268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4A4A5A"/>
                </a:solidFill>
              </a:defRPr>
            </a:pPr>
            <a:r>
              <a:t>Cross-cutting concerns — security, compliance, and communication</a:t>
            </a:r>
          </a:p>
        </p:txBody>
      </p:sp>
      <p:pic>
        <p:nvPicPr>
          <p:cNvPr id="4" name="Picture 3" descr="slide8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144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7053" y="128341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Purpose</a:t>
            </a:r>
          </a:p>
          <a:p>
            <a:pPr lvl="1">
              <a:defRPr sz="1400"/>
            </a:pPr>
            <a:r>
              <a:rPr dirty="0"/>
              <a:t>Fraud flags — event-based suspicious activity records; never auto-deleted</a:t>
            </a:r>
          </a:p>
          <a:p>
            <a:pPr lvl="1">
              <a:defRPr sz="1400"/>
            </a:pPr>
            <a:r>
              <a:rPr dirty="0"/>
              <a:t>Audit logs — immutable, append-only records of all sensitive operations</a:t>
            </a:r>
          </a:p>
          <a:p>
            <a:pPr lvl="1">
              <a:defRPr sz="1400"/>
            </a:pPr>
            <a:r>
              <a:rPr dirty="0"/>
              <a:t>Notifications — multi-channel delivery with retry support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Entities</a:t>
            </a:r>
          </a:p>
          <a:p>
            <a:pPr lvl="1">
              <a:defRPr sz="1400"/>
            </a:pPr>
            <a:r>
              <a:rPr dirty="0" err="1"/>
              <a:t>fraud_flags</a:t>
            </a:r>
            <a:r>
              <a:rPr dirty="0"/>
              <a:t>, </a:t>
            </a:r>
            <a:r>
              <a:rPr dirty="0" err="1"/>
              <a:t>audit_logs</a:t>
            </a:r>
            <a:r>
              <a:rPr dirty="0"/>
              <a:t>, notifications, guarantors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Key Relationships</a:t>
            </a:r>
          </a:p>
          <a:p>
            <a:pPr lvl="1">
              <a:defRPr sz="1400"/>
            </a:pPr>
            <a:r>
              <a:rPr dirty="0"/>
              <a:t>users → </a:t>
            </a:r>
            <a:r>
              <a:rPr dirty="0" err="1"/>
              <a:t>fraud_flags</a:t>
            </a:r>
            <a:r>
              <a:rPr dirty="0"/>
              <a:t> (1:N) — user may be flagged multiple times</a:t>
            </a:r>
          </a:p>
          <a:p>
            <a:pPr lvl="1">
              <a:defRPr sz="1400"/>
            </a:pPr>
            <a:r>
              <a:rPr dirty="0"/>
              <a:t>users → </a:t>
            </a:r>
            <a:r>
              <a:rPr dirty="0" err="1"/>
              <a:t>audit_logs</a:t>
            </a:r>
            <a:r>
              <a:rPr dirty="0"/>
              <a:t> (1:N) — tracks who, when, what, before/after</a:t>
            </a:r>
          </a:p>
          <a:p>
            <a:pPr lvl="1">
              <a:defRPr sz="1400"/>
            </a:pPr>
            <a:r>
              <a:rPr dirty="0"/>
              <a:t>users → notifications (1:N) — supports email, SMS, in-app</a:t>
            </a:r>
          </a:p>
          <a:p>
            <a:pPr lvl="1">
              <a:defRPr sz="1400"/>
            </a:pPr>
            <a:r>
              <a:rPr dirty="0"/>
              <a:t>users → guarantors (1:N) — borrower lists guarantor references</a:t>
            </a:r>
          </a:p>
          <a:p>
            <a:pPr>
              <a:defRPr sz="800"/>
            </a:pPr>
            <a:endParaRPr dirty="0"/>
          </a:p>
          <a:p>
            <a:pPr>
              <a:defRPr sz="1600" b="1">
                <a:solidFill>
                  <a:srgbClr val="2C5282"/>
                </a:solidFill>
              </a:defRPr>
            </a:pPr>
            <a:r>
              <a:rPr dirty="0"/>
              <a:t>Design Rationale</a:t>
            </a:r>
          </a:p>
          <a:p>
            <a:pPr lvl="1">
              <a:defRPr sz="1400"/>
            </a:pPr>
            <a:r>
              <a:rPr dirty="0"/>
              <a:t>Audit logs use JSONB for before/after state — flexible across all entity types</a:t>
            </a:r>
          </a:p>
          <a:p>
            <a:pPr lvl="1">
              <a:defRPr sz="1400"/>
            </a:pPr>
            <a:r>
              <a:rPr dirty="0"/>
              <a:t>Fraud flags support admin review workflow with severity levels</a:t>
            </a:r>
          </a:p>
          <a:p>
            <a:pPr lvl="1">
              <a:defRPr sz="1400"/>
            </a:pPr>
            <a:r>
              <a:rPr dirty="0"/>
              <a:t>All three tables are cross-cutting — they reference users but serve independent concerns</a:t>
            </a:r>
          </a:p>
          <a:p>
            <a:pPr>
              <a:defRPr sz="800"/>
            </a:pPr>
            <a:endParaRPr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0D39804-7FE3-3031-1DAD-50AA7132CA8A}"/>
              </a:ext>
            </a:extLst>
          </p:cNvPr>
          <p:cNvSpPr/>
          <p:nvPr/>
        </p:nvSpPr>
        <p:spPr>
          <a:xfrm rot="2459963">
            <a:off x="2395231" y="3586710"/>
            <a:ext cx="105756" cy="141807"/>
          </a:xfrm>
          <a:prstGeom prst="triangle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A4D9FC-9FE5-C295-10C6-BAE10808F36A}"/>
              </a:ext>
            </a:extLst>
          </p:cNvPr>
          <p:cNvSpPr/>
          <p:nvPr/>
        </p:nvSpPr>
        <p:spPr>
          <a:xfrm>
            <a:off x="457200" y="2259753"/>
            <a:ext cx="436563" cy="303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6FDF3F-13F9-369B-BF97-F1BADCCE1B70}"/>
              </a:ext>
            </a:extLst>
          </p:cNvPr>
          <p:cNvSpPr/>
          <p:nvPr/>
        </p:nvSpPr>
        <p:spPr>
          <a:xfrm>
            <a:off x="728662" y="2277216"/>
            <a:ext cx="436563" cy="303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4C619C-D752-E8BE-4AB8-0A8A41428E23}"/>
              </a:ext>
            </a:extLst>
          </p:cNvPr>
          <p:cNvSpPr/>
          <p:nvPr/>
        </p:nvSpPr>
        <p:spPr>
          <a:xfrm>
            <a:off x="467679" y="2284571"/>
            <a:ext cx="563244" cy="219075"/>
          </a:xfrm>
          <a:prstGeom prst="ellipse">
            <a:avLst/>
          </a:prstGeom>
          <a:solidFill>
            <a:srgbClr val="FFF8E1"/>
          </a:solidFill>
          <a:ln w="12700">
            <a:solidFill>
              <a:srgbClr val="CB9E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16B30-A85E-58BA-7245-172E7D75EB66}"/>
              </a:ext>
            </a:extLst>
          </p:cNvPr>
          <p:cNvSpPr txBox="1"/>
          <p:nvPr/>
        </p:nvSpPr>
        <p:spPr>
          <a:xfrm>
            <a:off x="467679" y="2286208"/>
            <a:ext cx="5757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flag_type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135EF-F18D-B04B-1725-A3AEB8FAE728}"/>
              </a:ext>
            </a:extLst>
          </p:cNvPr>
          <p:cNvSpPr/>
          <p:nvPr/>
        </p:nvSpPr>
        <p:spPr>
          <a:xfrm>
            <a:off x="2177207" y="1819656"/>
            <a:ext cx="706120" cy="293793"/>
          </a:xfrm>
          <a:prstGeom prst="ellipse">
            <a:avLst/>
          </a:prstGeom>
          <a:solidFill>
            <a:srgbClr val="FFF8E1"/>
          </a:solidFill>
          <a:ln w="12700">
            <a:solidFill>
              <a:srgbClr val="CCA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E9335-B252-76E1-06EB-26C695604F08}"/>
              </a:ext>
            </a:extLst>
          </p:cNvPr>
          <p:cNvSpPr txBox="1"/>
          <p:nvPr/>
        </p:nvSpPr>
        <p:spPr>
          <a:xfrm>
            <a:off x="2315564" y="1858830"/>
            <a:ext cx="5132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severity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E3911C-19F4-6320-B74F-CE23D588D889}"/>
              </a:ext>
            </a:extLst>
          </p:cNvPr>
          <p:cNvSpPr/>
          <p:nvPr/>
        </p:nvSpPr>
        <p:spPr>
          <a:xfrm>
            <a:off x="946943" y="5006975"/>
            <a:ext cx="1453762" cy="17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51EBB2-99F1-ECF6-372B-06182F7C583D}"/>
              </a:ext>
            </a:extLst>
          </p:cNvPr>
          <p:cNvSpPr/>
          <p:nvPr/>
        </p:nvSpPr>
        <p:spPr>
          <a:xfrm>
            <a:off x="1365250" y="5149780"/>
            <a:ext cx="242888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D8409D-6789-3552-9958-57CF1118D887}"/>
              </a:ext>
            </a:extLst>
          </p:cNvPr>
          <p:cNvSpPr/>
          <p:nvPr/>
        </p:nvSpPr>
        <p:spPr>
          <a:xfrm>
            <a:off x="2139950" y="5386388"/>
            <a:ext cx="671513" cy="230187"/>
          </a:xfrm>
          <a:prstGeom prst="ellipse">
            <a:avLst/>
          </a:prstGeom>
          <a:solidFill>
            <a:srgbClr val="FFF8E1"/>
          </a:solidFill>
          <a:ln>
            <a:solidFill>
              <a:srgbClr val="C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47EB62-DC10-83F9-2639-D4FD5808901F}"/>
              </a:ext>
            </a:extLst>
          </p:cNvPr>
          <p:cNvSpPr txBox="1"/>
          <p:nvPr/>
        </p:nvSpPr>
        <p:spPr>
          <a:xfrm>
            <a:off x="2217462" y="5386388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channel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F47339-C294-A1A2-C53D-BF7ECDB8CDFC}"/>
              </a:ext>
            </a:extLst>
          </p:cNvPr>
          <p:cNvSpPr/>
          <p:nvPr/>
        </p:nvSpPr>
        <p:spPr>
          <a:xfrm>
            <a:off x="2435409" y="5152495"/>
            <a:ext cx="50616" cy="45719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6D7BDD-8C60-4CF0-483D-E9B8B9416909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475706" y="5253567"/>
            <a:ext cx="96499" cy="13282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D7A19E-0C29-6EFE-827F-4C09DA4E5661}"/>
              </a:ext>
            </a:extLst>
          </p:cNvPr>
          <p:cNvCxnSpPr>
            <a:endCxn id="11" idx="0"/>
          </p:cNvCxnSpPr>
          <p:nvPr/>
        </p:nvCxnSpPr>
        <p:spPr>
          <a:xfrm flipH="1">
            <a:off x="755579" y="2074274"/>
            <a:ext cx="191364" cy="21193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318BFD-E4E4-7232-46D0-2F28FD70E5EE}"/>
              </a:ext>
            </a:extLst>
          </p:cNvPr>
          <p:cNvCxnSpPr>
            <a:cxnSpLocks/>
          </p:cNvCxnSpPr>
          <p:nvPr/>
        </p:nvCxnSpPr>
        <p:spPr>
          <a:xfrm>
            <a:off x="5122333" y="2256471"/>
            <a:ext cx="60855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C5E2BD-13F7-15F6-D5B4-B6F8DBB4B955}"/>
              </a:ext>
            </a:extLst>
          </p:cNvPr>
          <p:cNvCxnSpPr>
            <a:cxnSpLocks/>
          </p:cNvCxnSpPr>
          <p:nvPr/>
        </p:nvCxnSpPr>
        <p:spPr>
          <a:xfrm flipV="1">
            <a:off x="5179483" y="2208320"/>
            <a:ext cx="0" cy="51433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714421-2C6F-EF7A-CB8C-C85464AC5229}"/>
              </a:ext>
            </a:extLst>
          </p:cNvPr>
          <p:cNvCxnSpPr>
            <a:cxnSpLocks/>
          </p:cNvCxnSpPr>
          <p:nvPr/>
        </p:nvCxnSpPr>
        <p:spPr>
          <a:xfrm>
            <a:off x="10465549" y="6226304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6B8997-DC5D-F954-BA34-577B2C39E2C7}"/>
              </a:ext>
            </a:extLst>
          </p:cNvPr>
          <p:cNvCxnSpPr>
            <a:cxnSpLocks/>
          </p:cNvCxnSpPr>
          <p:nvPr/>
        </p:nvCxnSpPr>
        <p:spPr>
          <a:xfrm>
            <a:off x="11983453" y="4580384"/>
            <a:ext cx="0" cy="1645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1EC298-79F2-191D-62AE-FCFC2769FAF1}"/>
              </a:ext>
            </a:extLst>
          </p:cNvPr>
          <p:cNvCxnSpPr>
            <a:cxnSpLocks/>
          </p:cNvCxnSpPr>
          <p:nvPr/>
        </p:nvCxnSpPr>
        <p:spPr>
          <a:xfrm flipV="1">
            <a:off x="6211022" y="1414914"/>
            <a:ext cx="0" cy="1505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AE8E2C0-4227-15CB-6625-8EB4EFAE4443}"/>
              </a:ext>
            </a:extLst>
          </p:cNvPr>
          <p:cNvCxnSpPr>
            <a:cxnSpLocks/>
          </p:cNvCxnSpPr>
          <p:nvPr/>
        </p:nvCxnSpPr>
        <p:spPr>
          <a:xfrm flipH="1">
            <a:off x="6211022" y="1414914"/>
            <a:ext cx="15179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4" y="215043"/>
            <a:ext cx="8229600" cy="1143000"/>
          </a:xfrm>
        </p:spPr>
        <p:txBody>
          <a:bodyPr/>
          <a:lstStyle/>
          <a:p>
            <a:pPr>
              <a:defRPr sz="3200">
                <a:solidFill>
                  <a:srgbClr val="2C5282"/>
                </a:solidFill>
              </a:defRPr>
            </a:pPr>
            <a:r>
              <a:rPr dirty="0"/>
              <a:t>System Workflow —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4184" y="89406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From registration to repayment — how the complete </a:t>
            </a:r>
            <a:r>
              <a:rPr dirty="0" err="1"/>
              <a:t>ShohojRin</a:t>
            </a:r>
            <a:r>
              <a:rPr dirty="0"/>
              <a:t> system operates</a:t>
            </a:r>
          </a:p>
        </p:txBody>
      </p:sp>
      <p:pic>
        <p:nvPicPr>
          <p:cNvPr id="4" name="Picture 3" descr="slide9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46" y="1872963"/>
            <a:ext cx="9144000" cy="399953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1E14AE-DB46-02BB-0D77-9E629975E331}"/>
              </a:ext>
            </a:extLst>
          </p:cNvPr>
          <p:cNvCxnSpPr>
            <a:cxnSpLocks/>
          </p:cNvCxnSpPr>
          <p:nvPr/>
        </p:nvCxnSpPr>
        <p:spPr>
          <a:xfrm>
            <a:off x="9788893" y="6207054"/>
            <a:ext cx="111653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02475B-ED7B-C599-7CC1-C7D5569382B4}"/>
              </a:ext>
            </a:extLst>
          </p:cNvPr>
          <p:cNvCxnSpPr>
            <a:cxnSpLocks/>
          </p:cNvCxnSpPr>
          <p:nvPr/>
        </p:nvCxnSpPr>
        <p:spPr>
          <a:xfrm>
            <a:off x="10905424" y="5284269"/>
            <a:ext cx="0" cy="9227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226954-8F99-13F7-1FF9-E63FB90442B5}"/>
              </a:ext>
            </a:extLst>
          </p:cNvPr>
          <p:cNvCxnSpPr>
            <a:cxnSpLocks/>
          </p:cNvCxnSpPr>
          <p:nvPr/>
        </p:nvCxnSpPr>
        <p:spPr>
          <a:xfrm flipV="1">
            <a:off x="1023005" y="1559292"/>
            <a:ext cx="0" cy="95290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C7514F-9BB3-8593-7754-6F50EE2C9D0D}"/>
              </a:ext>
            </a:extLst>
          </p:cNvPr>
          <p:cNvCxnSpPr>
            <a:cxnSpLocks/>
          </p:cNvCxnSpPr>
          <p:nvPr/>
        </p:nvCxnSpPr>
        <p:spPr>
          <a:xfrm flipH="1">
            <a:off x="1023005" y="1559292"/>
            <a:ext cx="92129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985</Words>
  <Application>Microsoft Office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ShohojRin ER Diagram</vt:lpstr>
      <vt:lpstr>Module 1 — Authentication &amp; User Management</vt:lpstr>
      <vt:lpstr>Module 2 — User Profile &amp; Verification</vt:lpstr>
      <vt:lpstr>Module 3 — Trust Engine</vt:lpstr>
      <vt:lpstr>Module 4 — Loan Application &amp; Loan Lifecycle</vt:lpstr>
      <vt:lpstr>Module 5 — Repayment System</vt:lpstr>
      <vt:lpstr>Module 6 — Partner Integration</vt:lpstr>
      <vt:lpstr>Module 7 — Fraud Detection, Audit Logs &amp; Notifications</vt:lpstr>
      <vt:lpstr>System Workflow — End-to-End Process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Kazi Abir</dc:creator>
  <cp:keywords/>
  <dc:description>generated using python-pptx</dc:description>
  <cp:lastModifiedBy>Kazi Abir</cp:lastModifiedBy>
  <cp:revision>5</cp:revision>
  <dcterms:created xsi:type="dcterms:W3CDTF">2013-01-27T09:14:16Z</dcterms:created>
  <dcterms:modified xsi:type="dcterms:W3CDTF">2026-07-24T10:04:45Z</dcterms:modified>
  <cp:category/>
</cp:coreProperties>
</file>